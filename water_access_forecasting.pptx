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A17A3B5-EFED-CD25-3740-CC8A4849E55E}">
          <p14:sldIdLst>
            <p14:sldId id="256"/>
          </p14:sldIdLst>
        </p14:section>
        <p14:section name="Project" id="{45436C43-2AF0-C908-B62C-D7A8A0107112}">
          <p14:sldIdLst>
            <p14:sldId id="257"/>
            <p14:sldId id="258"/>
          </p14:sldIdLst>
        </p14:section>
        <p14:section name="Analysis" id="{171317DF-AF5D-E433-B31F-5C1ACD2D35BB}">
          <p14:sldIdLst>
            <p14:sldId id="259"/>
          </p14:sldIdLst>
        </p14:section>
        <p14:section name="Results" id="{F2C34F00-51B3-AE9E-D284-0847C7F1397F}">
          <p14:sldIdLst>
            <p14:sldId id="260"/>
            <p14:sldId id="261"/>
          </p14:sldIdLst>
        </p14:section>
        <p14:section name="Wrap-up" id="{46D10627-2AC5-A5D3-846D-B36F571019EC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F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0222F"/>
                </a:solidFill>
                <a:latin typeface="+mn-lt"/>
              </a:rPr>
              <a:t>Test RMSE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22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 Regression</c:v>
                </c:pt>
                <c:pt idx="1">
                  <c:v>Transformer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0.245</c:v>
                </c:pt>
                <c:pt idx="1">
                  <c:v>0.61699999999999999</c:v>
                </c:pt>
                <c:pt idx="2">
                  <c:v>0.63700000000000001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ED-7743-AF2E-420D844264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2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C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96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predicting next-year water access per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sources: WHO GHO for water; World Bank for urban population and unemployment.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time-based split: no shuffling, so the test set is genuinely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is skewed to high access; average access trends upward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R2 values exceed 0.999, so compare MAE/RMSE and the naive baseline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2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B7C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B7C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Access to Safely Managed Drinking Water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FB7CE"/>
                </a:solidFill>
              </a:rPr>
              <a:t>Linear Regression vs Random Forest vs Transformer on 158 countries, 2000-2024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Poorvi Goyal  (2430010343) Batch 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Bhoomi Kothari  (2430010325)  Batch 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B7C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next year's water access</a:t>
            </a:r>
            <a:endParaRPr lang="en-US" sz="3400" dirty="0"/>
          </a:p>
        </p:txBody>
      </p:sp>
      <p:sp>
        <p:nvSpPr>
          <p:cNvPr id="3" name="stat-card-0"/>
          <p:cNvSpPr/>
          <p:nvPr/>
        </p:nvSpPr>
        <p:spPr>
          <a:xfrm>
            <a:off x="457200" y="128016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at-0"/>
          <p:cNvSpPr txBox="1"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countries</a:t>
            </a:r>
            <a:endParaRPr lang="en-US" sz="1400" dirty="0"/>
          </a:p>
        </p:txBody>
      </p:sp>
      <p:sp>
        <p:nvSpPr>
          <p:cNvPr id="6" name="stat-card-1"/>
          <p:cNvSpPr/>
          <p:nvPr/>
        </p:nvSpPr>
        <p:spPr>
          <a:xfrm>
            <a:off x="3291840" y="128016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at-1"/>
          <p:cNvSpPr txBox="1"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3,873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country-year rows</a:t>
            </a:r>
            <a:endParaRPr lang="en-US" sz="1400" dirty="0"/>
          </a:p>
        </p:txBody>
      </p:sp>
      <p:sp>
        <p:nvSpPr>
          <p:cNvPr id="9" name="stat-card-2"/>
          <p:cNvSpPr/>
          <p:nvPr/>
        </p:nvSpPr>
        <p:spPr>
          <a:xfrm>
            <a:off x="6126480" y="128016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at-2"/>
          <p:cNvSpPr txBox="1"/>
          <p:nvPr/>
        </p:nvSpPr>
        <p:spPr>
          <a:xfrm>
            <a:off x="61264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years (2000-2024)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Target: </a:t>
            </a:r>
            <a:r>
              <a:rPr lang="en-US" sz="1600" dirty="0">
                <a:solidFill>
                  <a:schemeClr val="tx1"/>
                </a:solidFill>
              </a:rPr>
              <a:t>% of population using safely managed drinking water (WHO)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Inputs: </a:t>
            </a:r>
            <a:r>
              <a:rPr lang="en-US" sz="1600" dirty="0">
                <a:solidFill>
                  <a:schemeClr val="tx1"/>
                </a:solidFill>
              </a:rPr>
              <a:t>last 5 years of water access, urban population, unemployment (World Bank)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3400" dirty="0"/>
          </a:p>
        </p:txBody>
      </p:sp>
      <p:sp>
        <p:nvSpPr>
          <p:cNvPr id="3" name="step-card-0"/>
          <p:cNvSpPr/>
          <p:nvPr/>
        </p:nvSpPr>
        <p:spPr>
          <a:xfrm>
            <a:off x="457200" y="137160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ep-circle-0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 &amp; merge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Country totals, reshape World Bank tables, join on country-year</a:t>
            </a:r>
            <a:endParaRPr lang="en-US" sz="1400" dirty="0"/>
          </a:p>
        </p:txBody>
      </p:sp>
      <p:sp>
        <p:nvSpPr>
          <p:cNvPr id="8" name="step-card-1"/>
          <p:cNvSpPr/>
          <p:nvPr/>
        </p:nvSpPr>
        <p:spPr>
          <a:xfrm>
            <a:off x="2560320" y="137160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ep-circle-1"/>
          <p:cNvSpPr/>
          <p:nvPr/>
        </p:nvSpPr>
        <p:spPr>
          <a:xfrm>
            <a:off x="26974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97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5-year windows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Consecutive years only; predict the next year</a:t>
            </a:r>
            <a:endParaRPr lang="en-US" sz="1400" dirty="0"/>
          </a:p>
        </p:txBody>
      </p:sp>
      <p:sp>
        <p:nvSpPr>
          <p:cNvPr id="13" name="step-card-2"/>
          <p:cNvSpPr/>
          <p:nvPr/>
        </p:nvSpPr>
        <p:spPr>
          <a:xfrm>
            <a:off x="4663440" y="137160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-circle-2"/>
          <p:cNvSpPr/>
          <p:nvPr/>
        </p:nvSpPr>
        <p:spPr>
          <a:xfrm>
            <a:off x="480060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00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 split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Train to 2018, validate 2019-20, test 2021-24</a:t>
            </a:r>
            <a:endParaRPr lang="en-US" sz="1400" dirty="0"/>
          </a:p>
        </p:txBody>
      </p:sp>
      <p:sp>
        <p:nvSpPr>
          <p:cNvPr id="18" name="step-card-3"/>
          <p:cNvSpPr/>
          <p:nvPr/>
        </p:nvSpPr>
        <p:spPr>
          <a:xfrm>
            <a:off x="6766560" y="1371600"/>
            <a:ext cx="19202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ep-circle-3"/>
          <p:cNvSpPr/>
          <p:nvPr/>
        </p:nvSpPr>
        <p:spPr>
          <a:xfrm>
            <a:off x="69037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03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Three models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606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Linear, Random Forest, Transformer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Scalers are fit on training data only, so nothing from the future leaks 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rises with urbanisation</a:t>
            </a:r>
            <a:endParaRPr lang="en-US" sz="3400" dirty="0"/>
          </a:p>
        </p:txBody>
      </p:sp>
      <p:pic>
        <p:nvPicPr>
          <p:cNvPr id="3" name="plot-distribution" descr="Histogram of water ac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931920" cy="1965960"/>
          </a:xfrm>
          <a:prstGeom prst="rect">
            <a:avLst/>
          </a:prstGeom>
        </p:spPr>
      </p:pic>
      <p:pic>
        <p:nvPicPr>
          <p:cNvPr id="4" name="plot-trend" descr="Average water access by ye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0160"/>
            <a:ext cx="3931920" cy="17465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Correlation with water access: </a:t>
            </a:r>
            <a:r>
              <a:rPr lang="en-US" sz="1600" dirty="0">
                <a:solidFill>
                  <a:schemeClr val="tx1"/>
                </a:solidFill>
              </a:rPr>
              <a:t>urban population 0.67, unemployment 0.17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Missing data: urban population 6%, unemployment 15%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wins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49377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sults-card"/>
          <p:cNvSpPr/>
          <p:nvPr/>
        </p:nvSpPr>
        <p:spPr>
          <a:xfrm>
            <a:off x="5669280" y="1280160"/>
            <a:ext cx="30175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669280" y="1417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0.087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best MAE (% points)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283464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Transformer MAE 0.434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 MAE 0.401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Repeat-last-year MAE 0.322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Transformer: actual vs predicted</a:t>
            </a:r>
            <a:endParaRPr lang="en-US" sz="3400" dirty="0"/>
          </a:p>
        </p:txBody>
      </p:sp>
      <p:pic>
        <p:nvPicPr>
          <p:cNvPr id="3" name="plot-actual-vs-pred" descr="Scatter of actual vs predicted water ac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384048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Predictions sit on the diagonal across the full 6-100% range.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522 test predictions, 2021-2024.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But last year's value already explains most of this, so a tight fit is expected.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and limitations</a:t>
            </a:r>
            <a:endParaRPr lang="en-US" sz="3400" dirty="0"/>
          </a:p>
        </p:txBody>
      </p:sp>
      <p:sp>
        <p:nvSpPr>
          <p:cNvPr id="3" name="col-card-0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Leak-free time-based evaluation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 linear model is accurate and cheap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Reproducible script and documented repo</a:t>
            </a:r>
            <a:endParaRPr lang="en-US" sz="1600" dirty="0"/>
          </a:p>
        </p:txBody>
      </p:sp>
      <p:sp>
        <p:nvSpPr>
          <p:cNvPr id="6" name="col-card-1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116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3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15% of rows lose unemployment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Transformer needs more data to pay off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Add features: income, health spend, rainfall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Forecast several years ahead, not one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Benchmark against the repeat-last-year baseline in every report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Deploy as a small web demo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B7C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er Forecast">
  <a:themeElements>
    <a:clrScheme name="Water Forecast">
      <a:dk1>
        <a:srgbClr val="10222F"/>
      </a:dk1>
      <a:lt1>
        <a:srgbClr val="FFFFFF"/>
      </a:lt1>
      <a:dk2>
        <a:srgbClr val="065A82"/>
      </a:dk2>
      <a:lt2>
        <a:srgbClr val="EAF4F8"/>
      </a:lt2>
      <a:accent1>
        <a:srgbClr val="1C7293"/>
      </a:accent1>
      <a:accent2>
        <a:srgbClr val="F4A259"/>
      </a:accent2>
      <a:accent3>
        <a:srgbClr val="02C39A"/>
      </a:accent3>
      <a:accent4>
        <a:srgbClr val="7FB7CE"/>
      </a:accent4>
      <a:accent5>
        <a:srgbClr val="21295C"/>
      </a:accent5>
      <a:accent6>
        <a:srgbClr val="5B7C8D"/>
      </a:accent6>
      <a:hlink>
        <a:srgbClr val="065A82"/>
      </a:hlink>
      <a:folHlink>
        <a:srgbClr val="5B7C8D"/>
      </a:folHlink>
    </a:clrScheme>
    <a:fontScheme name="Water Foreca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394</Words>
  <Application>Microsoft Macintosh PowerPoint</Application>
  <PresentationFormat>On-screen Show (16:9)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Water Forecast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Access to Safely Managed Drinking Water</dc:title>
  <dc:subject>PptxGenJS Presentation</dc:subject>
  <dc:creator>[YOUR NAME]</dc:creator>
  <cp:lastModifiedBy>Poorvi Goyal [CSE (DATA SCIENCE) - 2024]</cp:lastModifiedBy>
  <cp:revision>2</cp:revision>
  <dcterms:created xsi:type="dcterms:W3CDTF">2026-10-22T17:40:28Z</dcterms:created>
  <dcterms:modified xsi:type="dcterms:W3CDTF">2026-10-22T17:46:05Z</dcterms:modified>
</cp:coreProperties>
</file>